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3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4EA10-311E-0EDF-FAB6-1B0300646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58A17-3E78-A40A-20CC-E00619622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6B6DA-CFFC-E478-F204-131139A8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475D1-8829-737D-DC2C-FCC83A880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0C56F-5980-E0B4-DAC2-38D22AD1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7478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8DCAB-16DA-9BC0-9DB0-E485AA93E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7A135-22CF-D5A1-10CF-73963038B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BA9A5-BAB3-AE3D-854E-C26F22A59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FF736-120E-D66A-529B-1F2E30C8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F807B-ADA4-4C01-083D-A4C9C66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9942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0988-1C4E-7D71-2353-D83AF5AA1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4932C-95C0-2589-4FA1-6A4379CAE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DF939-1343-4FB3-3B5B-B92B8DFB1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19822-B0A9-74DB-BB07-26CFC1E18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11844-BC7F-ECDB-EB78-1E275748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647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A5D9E-A0C0-03A9-53C8-DEFC9DFDF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09F55-3A2B-F843-1AFD-BB9453209C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0FABC-698C-CD63-41D4-91031BAA4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5D8B5-232F-CEDA-4C53-5A83290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2AF9CE-3966-C23F-2866-7AB8D414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246613-B207-7A9D-2829-157F5587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8999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589FA-8525-7C97-3502-708C67C46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34E95-AC65-1447-D6FA-427FA86602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92377-B2A7-5DC8-932A-733BECB614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D5397-D77C-D2DC-8E1A-5E50A65BA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D2D6E6-4A77-8F11-1499-2FC2081A7D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304FA4-104E-A33C-3BDD-DE9076011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DE0898-71C7-A9D1-02A3-3E9025700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4C665-3E48-B47C-E65F-F7D82BA0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0838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32E33-A3B6-5FFE-393D-ECF8CFF15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5EA9AB-3ED0-0507-24F9-AC09C2AC4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302603-8261-46FA-8506-3C391DCB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2A8009-D270-51C3-78DA-AB71C2AA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5630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A511A2-7A25-8299-4204-195413304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DAEE93-A882-2777-C6BD-FF81E6FCA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6C338-3DA8-B7E9-36F3-12D590B4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8471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DB90-A278-5F56-D45D-B9020FAB2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442D0-3D24-31C4-063D-9EE702F9E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E3722-4498-29FD-708E-8A8D469C1E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82262C-1F4C-2BFD-C9A0-850948C8C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712155-EC0E-86A3-338F-7C010C1B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20743-205D-A694-8552-EC46BACF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3403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5057E-5FB0-E93A-A56E-0A97CC652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7F9-0F70-AC5E-EC02-EE2602674F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1A6701-94CA-EC3D-B83C-A66FF0FA0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CBCCD-3D2E-B893-7645-1856F950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C26292-B791-C11D-ED13-5DC8C050C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0F841-55CB-CAB6-3D7B-C0729675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1643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CF56-512C-07B6-FD74-49225F2E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581952-773D-F9A9-A74D-7EF39C114F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B304D-A226-B8F9-590B-040DE493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7D605-D5C2-BF86-1338-77C422A50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F877-5166-E5E6-B38F-D7B9CBEFC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915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BE15D9-9D82-CFD3-CEB1-9DE8BD1F1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83B97-E743-1D12-3E13-147991CEEF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85CA2-726E-DD69-DB81-3DE5241B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E24BA-9DDF-1F0F-C073-7A0974E97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6D694-A2D2-A182-309B-42B0FA2BF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2852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72608-D0FB-D504-5008-E947212EA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E3D41-3D30-7CB3-F0F3-CB23AC03B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7D9A4-A63A-CEA9-88C6-5689D6C27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3867BF-00B6-43F9-B427-F89AFA2CD762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1C5A-73AC-DC90-14E0-0E59DDE766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A7FA-3598-388A-4409-B92B9609A7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8D7967-D09E-4C1B-B2F3-33978A279D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5862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A947F4-856D-418E-D194-17E9F3B4F8F4}"/>
              </a:ext>
            </a:extLst>
          </p:cNvPr>
          <p:cNvSpPr txBox="1">
            <a:spLocks/>
          </p:cNvSpPr>
          <p:nvPr/>
        </p:nvSpPr>
        <p:spPr>
          <a:xfrm>
            <a:off x="1524000" y="1161692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4D76B-793F-EE5F-97DE-AF9D59CDDBF4}"/>
              </a:ext>
            </a:extLst>
          </p:cNvPr>
          <p:cNvSpPr txBox="1"/>
          <p:nvPr/>
        </p:nvSpPr>
        <p:spPr>
          <a:xfrm>
            <a:off x="2349909" y="682073"/>
            <a:ext cx="7531510" cy="479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80"/>
              </a:lnSpc>
              <a:buNone/>
            </a:pPr>
            <a:r>
              <a:rPr lang="en-IN" sz="3200" b="1" i="0" dirty="0">
                <a:effectLst/>
                <a:latin typeface="Inter"/>
              </a:rPr>
              <a:t>Symbiosis Skill Hackathon (SSH-2026)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F8DBE6-A40A-D827-9F57-65AB2B2D62AB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49B7192-695A-0560-0ABF-EDFB8ABFF3CF}"/>
              </a:ext>
            </a:extLst>
          </p:cNvPr>
          <p:cNvCxnSpPr>
            <a:cxnSpLocks/>
          </p:cNvCxnSpPr>
          <p:nvPr/>
        </p:nvCxnSpPr>
        <p:spPr>
          <a:xfrm>
            <a:off x="476862" y="1161691"/>
            <a:ext cx="1125301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1442F9-BB53-B10D-E48B-130E0DBFC310}"/>
              </a:ext>
            </a:extLst>
          </p:cNvPr>
          <p:cNvSpPr txBox="1"/>
          <p:nvPr/>
        </p:nvSpPr>
        <p:spPr>
          <a:xfrm>
            <a:off x="462115" y="1247496"/>
            <a:ext cx="786580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Team name </a:t>
            </a:r>
            <a:r>
              <a:rPr lang="en-US" sz="2500" b="1" dirty="0">
                <a:solidFill>
                  <a:schemeClr val="accent6">
                    <a:lumMod val="75000"/>
                  </a:schemeClr>
                </a:solidFill>
              </a:rPr>
              <a:t>: </a:t>
            </a:r>
            <a:r>
              <a:rPr lang="en-US" sz="2500" b="1" dirty="0"/>
              <a:t>THE BOSS </a:t>
            </a:r>
          </a:p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Team ID : </a:t>
            </a:r>
            <a:r>
              <a:rPr lang="en-US" sz="2500" b="1" dirty="0"/>
              <a:t>SSHE70</a:t>
            </a:r>
            <a:endParaRPr lang="en-US" sz="25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Team Leader name </a:t>
            </a:r>
            <a:r>
              <a:rPr lang="en-US" sz="2500" b="1" dirty="0">
                <a:solidFill>
                  <a:schemeClr val="accent6">
                    <a:lumMod val="75000"/>
                  </a:schemeClr>
                </a:solidFill>
              </a:rPr>
              <a:t>: </a:t>
            </a:r>
            <a:r>
              <a:rPr lang="en-US" sz="2500" b="1" dirty="0"/>
              <a:t>Trishansh Sahane</a:t>
            </a:r>
          </a:p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College : </a:t>
            </a:r>
            <a:r>
              <a:rPr lang="en-US" sz="2500" b="1" dirty="0"/>
              <a:t>Devi Ahilya Vishwavidyalaya(DAVV) Indore</a:t>
            </a:r>
            <a:endParaRPr lang="en-IN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F24FE3-4482-91C4-3CDC-97511356ACA1}"/>
              </a:ext>
            </a:extLst>
          </p:cNvPr>
          <p:cNvCxnSpPr/>
          <p:nvPr/>
        </p:nvCxnSpPr>
        <p:spPr>
          <a:xfrm>
            <a:off x="476863" y="2974284"/>
            <a:ext cx="1125301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D23386-CE23-FA20-A4DD-BB4C15450890}"/>
              </a:ext>
            </a:extLst>
          </p:cNvPr>
          <p:cNvSpPr txBox="1"/>
          <p:nvPr/>
        </p:nvSpPr>
        <p:spPr>
          <a:xfrm>
            <a:off x="501444" y="5825152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>
                    <a:lumMod val="75000"/>
                  </a:schemeClr>
                </a:solidFill>
              </a:rPr>
              <a:t>Theme : </a:t>
            </a:r>
            <a:r>
              <a:rPr lang="en-IN" sz="2500" b="1" dirty="0"/>
              <a:t>Edtech</a:t>
            </a:r>
            <a:r>
              <a:rPr lang="en-IN" sz="25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endParaRPr lang="en-IN" sz="2500" b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205A5-F4C8-ED7B-DB6E-64B549CC917F}"/>
              </a:ext>
            </a:extLst>
          </p:cNvPr>
          <p:cNvCxnSpPr/>
          <p:nvPr/>
        </p:nvCxnSpPr>
        <p:spPr>
          <a:xfrm>
            <a:off x="476862" y="5720922"/>
            <a:ext cx="1125301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8E79E19-C20B-9651-EBEC-591F6800116E}"/>
              </a:ext>
            </a:extLst>
          </p:cNvPr>
          <p:cNvSpPr txBox="1"/>
          <p:nvPr/>
        </p:nvSpPr>
        <p:spPr>
          <a:xfrm>
            <a:off x="439992" y="3320265"/>
            <a:ext cx="11238271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5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Problem Statement : </a:t>
            </a:r>
            <a:r>
              <a:rPr lang="en-US" sz="2500" dirty="0"/>
              <a:t>Rural students often lack clear, accessible and personalized guidance after Class 10 and 12. Career information is scattered, complex and rarely available in regional languages or low-bandwidth formats. </a:t>
            </a:r>
          </a:p>
          <a:p>
            <a:r>
              <a:rPr lang="en-US" sz="2500" dirty="0"/>
              <a:t>This leads to poor career decisions, missed scholarships and limited awareness of government opportunities.</a:t>
            </a:r>
            <a:endParaRPr lang="en-IN" sz="2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C1B90-B3F0-2E88-46E1-499142844ADD}"/>
              </a:ext>
            </a:extLst>
          </p:cNvPr>
          <p:cNvSpPr txBox="1"/>
          <p:nvPr/>
        </p:nvSpPr>
        <p:spPr>
          <a:xfrm>
            <a:off x="462115" y="3069857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>
                <a:solidFill>
                  <a:schemeClr val="accent1">
                    <a:lumMod val="75000"/>
                  </a:schemeClr>
                </a:solidFill>
              </a:rPr>
              <a:t>Project Name : </a:t>
            </a:r>
            <a:r>
              <a:rPr lang="en-IN" sz="2500" b="1"/>
              <a:t>Gyan-Shala</a:t>
            </a:r>
            <a:r>
              <a:rPr lang="en-IN" sz="2500" b="1">
                <a:solidFill>
                  <a:schemeClr val="accent6">
                    <a:lumMod val="75000"/>
                  </a:schemeClr>
                </a:solidFill>
              </a:rPr>
              <a:t> </a:t>
            </a:r>
            <a:endParaRPr lang="en-IN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DF102B-7A58-2F2B-07AF-90415E76F350}"/>
              </a:ext>
            </a:extLst>
          </p:cNvPr>
          <p:cNvCxnSpPr/>
          <p:nvPr/>
        </p:nvCxnSpPr>
        <p:spPr>
          <a:xfrm>
            <a:off x="454740" y="3694316"/>
            <a:ext cx="1125301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834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14637-BE89-AAB6-3F36-CD410E15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7FFC6F8-060F-4B07-6632-AF82CB62B44B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A4B6B7-1D1B-0B3B-D3CD-D3F4BA516F59}"/>
              </a:ext>
            </a:extLst>
          </p:cNvPr>
          <p:cNvSpPr txBox="1"/>
          <p:nvPr/>
        </p:nvSpPr>
        <p:spPr>
          <a:xfrm>
            <a:off x="476864" y="508819"/>
            <a:ext cx="6199239" cy="5863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Proposed Solution:</a:t>
            </a:r>
            <a:br>
              <a:rPr lang="en-US" sz="2500" dirty="0"/>
            </a:br>
            <a:r>
              <a:rPr lang="en-US" sz="2500" dirty="0"/>
              <a:t>A one-stop multilingual digital learning platform </a:t>
            </a:r>
            <a:r>
              <a:rPr lang="en-US" sz="2500" b="1" dirty="0"/>
              <a:t>(web + mobile app) </a:t>
            </a:r>
            <a:r>
              <a:rPr lang="en-US" sz="2500" dirty="0"/>
              <a:t>designed specifically for </a:t>
            </a:r>
            <a:r>
              <a:rPr lang="en-US" sz="2500" b="1" dirty="0"/>
              <a:t>rural students</a:t>
            </a:r>
            <a:r>
              <a:rPr lang="en-US" sz="2500" dirty="0"/>
              <a:t>, delivering subject-wise study content, career guidance after 10th and 12th, scholarship awareness and government exam roadmaps - all in local and regional languages.</a:t>
            </a:r>
          </a:p>
          <a:p>
            <a:r>
              <a:rPr lang="en-US" sz="2500" dirty="0"/>
              <a:t>The platform supports </a:t>
            </a:r>
            <a:r>
              <a:rPr lang="en-US" sz="2500" b="1" dirty="0"/>
              <a:t>offline learning through downloadable content </a:t>
            </a:r>
            <a:r>
              <a:rPr lang="en-US" sz="2500" dirty="0"/>
              <a:t>and low-data mode, ensuring uninterrupted access even in </a:t>
            </a:r>
            <a:r>
              <a:rPr lang="en-US" sz="2500" b="1" dirty="0"/>
              <a:t>low-connectivity areas w</a:t>
            </a:r>
            <a:r>
              <a:rPr lang="en-US" sz="2500" dirty="0"/>
              <a:t>ith AI-powered academic support and voice-based assistance, it enables accessible, affordable and self-driven education for rural growth.</a:t>
            </a:r>
            <a:endParaRPr lang="en-IN" sz="2500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F3F5C6AD-0C6D-2B1E-F21B-C5151DEEB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869" y="1297054"/>
            <a:ext cx="7644504" cy="5220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2683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3FB9-92E3-16EB-8C0D-97608460E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54824-1EDE-5E48-7BCB-07793C945FB7}"/>
              </a:ext>
            </a:extLst>
          </p:cNvPr>
          <p:cNvSpPr txBox="1"/>
          <p:nvPr/>
        </p:nvSpPr>
        <p:spPr>
          <a:xfrm>
            <a:off x="476863" y="508819"/>
            <a:ext cx="11336765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Solution Highlights (what make our solution different from others) :</a:t>
            </a:r>
          </a:p>
          <a:p>
            <a:r>
              <a:rPr lang="en-US" sz="2400" b="1" dirty="0"/>
              <a:t>Regional Language Focus : </a:t>
            </a:r>
            <a:r>
              <a:rPr lang="en-US" sz="2400" dirty="0"/>
              <a:t>Study content and career guidance available in Hindi and regional languages for true understanding.</a:t>
            </a:r>
          </a:p>
          <a:p>
            <a:r>
              <a:rPr lang="en-US" sz="2400" b="1" dirty="0"/>
              <a:t>Offline &amp; Low-Data Access : </a:t>
            </a:r>
            <a:r>
              <a:rPr lang="en-US" sz="2400" dirty="0"/>
              <a:t>Downloadable resources and a lightweight platform designed for rural internet conditions.</a:t>
            </a:r>
          </a:p>
          <a:p>
            <a:r>
              <a:rPr lang="en-US" sz="2400" b="1" dirty="0"/>
              <a:t>Structured Career Roadmaps : </a:t>
            </a:r>
            <a:r>
              <a:rPr lang="en-US" sz="2400" dirty="0"/>
              <a:t>Clear step-by-step guidance after 10th and 12th with degree options, government exams and scholarships in one place.</a:t>
            </a:r>
          </a:p>
          <a:p>
            <a:r>
              <a:rPr lang="en-US" sz="2400" b="1" dirty="0"/>
              <a:t>AI Learning Assistant : </a:t>
            </a:r>
            <a:r>
              <a:rPr lang="en-US" sz="2400" dirty="0"/>
              <a:t>Simple doubt-solving and concept explanations in easy language.</a:t>
            </a:r>
          </a:p>
          <a:p>
            <a:r>
              <a:rPr lang="en-US" sz="2400" b="1" dirty="0"/>
              <a:t>Practical &amp; Student-Friendly Content : </a:t>
            </a:r>
            <a:r>
              <a:rPr lang="en-US" sz="2400" dirty="0"/>
              <a:t>Subject-wise notes and career insights explained clearly and directly.</a:t>
            </a:r>
          </a:p>
          <a:p>
            <a:endParaRPr lang="en-US" sz="25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E4DEE-DE84-2871-5590-6931A1236841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667C3F0-3305-0101-5EE6-500B822A0E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104" y="3560377"/>
            <a:ext cx="6116593" cy="3005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440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B01E2-E5B9-D53B-E532-9FAC063B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7C5E4F4-5AA4-C27A-FFA9-4B474D181414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BEE4-65D2-526E-7E54-20BC2FA38F05}"/>
              </a:ext>
            </a:extLst>
          </p:cNvPr>
          <p:cNvSpPr txBox="1"/>
          <p:nvPr/>
        </p:nvSpPr>
        <p:spPr>
          <a:xfrm>
            <a:off x="611924" y="743959"/>
            <a:ext cx="4506613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>
                    <a:lumMod val="75000"/>
                  </a:schemeClr>
                </a:solidFill>
              </a:rPr>
              <a:t>Technologies used :</a:t>
            </a:r>
          </a:p>
          <a:p>
            <a:r>
              <a:rPr lang="en-IN" sz="2500" dirty="0">
                <a:solidFill>
                  <a:schemeClr val="accent1">
                    <a:lumMod val="75000"/>
                  </a:schemeClr>
                </a:solidFill>
              </a:rPr>
              <a:t>Languages : </a:t>
            </a:r>
          </a:p>
          <a:p>
            <a:r>
              <a:rPr lang="en-IN" sz="2500" b="1" dirty="0"/>
              <a:t>HTML CSS and JavaScript </a:t>
            </a:r>
            <a:r>
              <a:rPr lang="en-IN" sz="2500" dirty="0"/>
              <a:t>(Frontend) </a:t>
            </a:r>
          </a:p>
          <a:p>
            <a:r>
              <a:rPr lang="en-IN" sz="2500" b="1" dirty="0"/>
              <a:t>Python </a:t>
            </a:r>
            <a:r>
              <a:rPr lang="en-IN" sz="2500" dirty="0"/>
              <a:t>(Chatbot)</a:t>
            </a:r>
          </a:p>
          <a:p>
            <a:r>
              <a:rPr lang="en-US" sz="2500" dirty="0">
                <a:solidFill>
                  <a:schemeClr val="accent1">
                    <a:lumMod val="75000"/>
                  </a:schemeClr>
                </a:solidFill>
              </a:rPr>
              <a:t>Tools and Frameworks :</a:t>
            </a:r>
          </a:p>
          <a:p>
            <a:r>
              <a:rPr lang="en-US" sz="2500" b="1" dirty="0"/>
              <a:t>Flask and </a:t>
            </a:r>
            <a:r>
              <a:rPr lang="en-US" sz="2500" b="1" dirty="0" err="1"/>
              <a:t>LangChain</a:t>
            </a:r>
            <a:r>
              <a:rPr lang="en-US" sz="2500" b="1" dirty="0"/>
              <a:t> </a:t>
            </a:r>
            <a:r>
              <a:rPr lang="en-US" sz="2500" dirty="0"/>
              <a:t>(RAG Chatbot)</a:t>
            </a:r>
          </a:p>
          <a:p>
            <a:r>
              <a:rPr lang="en-US" sz="2500" b="1" dirty="0"/>
              <a:t>MySQL </a:t>
            </a:r>
            <a:r>
              <a:rPr lang="en-US" sz="2500" dirty="0"/>
              <a:t>(Database)</a:t>
            </a:r>
          </a:p>
          <a:p>
            <a:r>
              <a:rPr lang="en-US" sz="2500" b="1" dirty="0"/>
              <a:t>React </a:t>
            </a:r>
            <a:r>
              <a:rPr lang="en-US" sz="2500" dirty="0"/>
              <a:t>(Website)</a:t>
            </a:r>
          </a:p>
          <a:p>
            <a:r>
              <a:rPr lang="en-US" sz="2500" b="1" dirty="0"/>
              <a:t>React Native </a:t>
            </a:r>
            <a:r>
              <a:rPr lang="en-US" sz="2500" dirty="0"/>
              <a:t>(Mobile app)</a:t>
            </a:r>
          </a:p>
          <a:p>
            <a:r>
              <a:rPr lang="en-US" sz="2500" b="1" dirty="0"/>
              <a:t>React i18n </a:t>
            </a:r>
            <a:r>
              <a:rPr lang="en-US" sz="2500" dirty="0"/>
              <a:t>(Translation)</a:t>
            </a:r>
          </a:p>
          <a:p>
            <a:r>
              <a:rPr lang="en-US" sz="2500" b="1" dirty="0"/>
              <a:t>Tailwind </a:t>
            </a:r>
            <a:r>
              <a:rPr lang="en-US" sz="2500" dirty="0"/>
              <a:t>(Styling)</a:t>
            </a:r>
          </a:p>
          <a:p>
            <a:r>
              <a:rPr lang="en-US" sz="2500" dirty="0">
                <a:solidFill>
                  <a:schemeClr val="accent1">
                    <a:lumMod val="75000"/>
                  </a:schemeClr>
                </a:solidFill>
              </a:rPr>
              <a:t>Api Keys : </a:t>
            </a:r>
            <a:r>
              <a:rPr lang="en-US" sz="2500" dirty="0"/>
              <a:t>GROQ Api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EA517E-23E5-9BF1-6E40-59FD06E5D005}"/>
              </a:ext>
            </a:extLst>
          </p:cNvPr>
          <p:cNvSpPr/>
          <p:nvPr/>
        </p:nvSpPr>
        <p:spPr>
          <a:xfrm>
            <a:off x="476865" y="508819"/>
            <a:ext cx="11238270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F556F2-C130-0E5F-7109-2B7680710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3" y="1461416"/>
            <a:ext cx="5475891" cy="3621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CBEF16-7329-372B-3A14-5CABD5042234}"/>
              </a:ext>
            </a:extLst>
          </p:cNvPr>
          <p:cNvSpPr txBox="1"/>
          <p:nvPr/>
        </p:nvSpPr>
        <p:spPr>
          <a:xfrm>
            <a:off x="6405627" y="826418"/>
            <a:ext cx="750438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>
                    <a:lumMod val="75000"/>
                  </a:schemeClr>
                </a:solidFill>
              </a:rPr>
              <a:t>Architecture Diagram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57F89-AD64-5DF8-D901-88C811C02942}"/>
              </a:ext>
            </a:extLst>
          </p:cNvPr>
          <p:cNvSpPr/>
          <p:nvPr/>
        </p:nvSpPr>
        <p:spPr>
          <a:xfrm>
            <a:off x="476863" y="508819"/>
            <a:ext cx="4053705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797504-0FE0-2EC9-C00A-D25B565E2631}"/>
              </a:ext>
            </a:extLst>
          </p:cNvPr>
          <p:cNvSpPr txBox="1"/>
          <p:nvPr/>
        </p:nvSpPr>
        <p:spPr>
          <a:xfrm>
            <a:off x="5804875" y="3524412"/>
            <a:ext cx="677128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/>
              <a:t>Frontend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19395-F4BC-FC1C-CF00-2332D67C0394}"/>
              </a:ext>
            </a:extLst>
          </p:cNvPr>
          <p:cNvSpPr txBox="1"/>
          <p:nvPr/>
        </p:nvSpPr>
        <p:spPr>
          <a:xfrm>
            <a:off x="4530569" y="5554528"/>
            <a:ext cx="77725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>
                    <a:lumMod val="75000"/>
                  </a:schemeClr>
                </a:solidFill>
              </a:rPr>
              <a:t>Prototype Link : </a:t>
            </a:r>
            <a:r>
              <a:rPr lang="en-IN" sz="2500" b="1" dirty="0"/>
              <a:t>https://gyanshala-delta.vercel.app/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E05CF6-7B41-FC4C-D4A0-6FE27EBD1886}"/>
              </a:ext>
            </a:extLst>
          </p:cNvPr>
          <p:cNvSpPr/>
          <p:nvPr/>
        </p:nvSpPr>
        <p:spPr>
          <a:xfrm>
            <a:off x="4530568" y="5327738"/>
            <a:ext cx="7184568" cy="102144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8797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23BE-0B2D-6FD5-B157-C14EA058F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2CCA74-C5CF-D4A5-E2E2-F7A2E26748FB}"/>
              </a:ext>
            </a:extLst>
          </p:cNvPr>
          <p:cNvSpPr/>
          <p:nvPr/>
        </p:nvSpPr>
        <p:spPr>
          <a:xfrm>
            <a:off x="476861" y="508822"/>
            <a:ext cx="11238271" cy="595383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E7F-9A19-C159-430E-FFD3F94BDED8}"/>
              </a:ext>
            </a:extLst>
          </p:cNvPr>
          <p:cNvSpPr txBox="1"/>
          <p:nvPr/>
        </p:nvSpPr>
        <p:spPr>
          <a:xfrm>
            <a:off x="580104" y="679725"/>
            <a:ext cx="997974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Target Audience : </a:t>
            </a:r>
            <a:r>
              <a:rPr lang="en-US" sz="2500" dirty="0"/>
              <a:t>Our target audience is </a:t>
            </a:r>
            <a:r>
              <a:rPr lang="en-US" sz="2500" b="1" dirty="0"/>
              <a:t>India’s rural school students.</a:t>
            </a:r>
            <a:endParaRPr lang="en-IN" sz="2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33E8A0-CA92-5F41-D2BA-537C12DECC28}"/>
              </a:ext>
            </a:extLst>
          </p:cNvPr>
          <p:cNvSpPr/>
          <p:nvPr/>
        </p:nvSpPr>
        <p:spPr>
          <a:xfrm>
            <a:off x="476863" y="508818"/>
            <a:ext cx="11238271" cy="81478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75C494-74B1-5A28-9EE4-12685FD1D192}"/>
              </a:ext>
            </a:extLst>
          </p:cNvPr>
          <p:cNvSpPr txBox="1"/>
          <p:nvPr/>
        </p:nvSpPr>
        <p:spPr>
          <a:xfrm>
            <a:off x="529940" y="1323607"/>
            <a:ext cx="11238271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Impact on ground level :</a:t>
            </a:r>
          </a:p>
          <a:p>
            <a:r>
              <a:rPr lang="en-US" sz="2500" b="1" dirty="0"/>
              <a:t>Builds Confidence:</a:t>
            </a:r>
            <a:r>
              <a:rPr lang="en-US" sz="2500" dirty="0"/>
              <a:t> Students gain clarity about subjects, careers and future opportunities.</a:t>
            </a:r>
          </a:p>
          <a:p>
            <a:r>
              <a:rPr lang="en-US" sz="2500" b="1" dirty="0"/>
              <a:t>Right Direction at Right Time:</a:t>
            </a:r>
            <a:r>
              <a:rPr lang="en-US" sz="2500" dirty="0"/>
              <a:t> Structured guidance after 10th/12th prevents wrong career choices.</a:t>
            </a:r>
          </a:p>
          <a:p>
            <a:r>
              <a:rPr lang="en-US" sz="2500" b="1" dirty="0"/>
              <a:t>Access for Every Student:</a:t>
            </a:r>
            <a:r>
              <a:rPr lang="en-US" sz="2500" dirty="0"/>
              <a:t> Rural learners get equal access to quality resources and mentorship.</a:t>
            </a:r>
          </a:p>
          <a:p>
            <a:r>
              <a:rPr lang="en-US" sz="2500" b="1" dirty="0"/>
              <a:t>Career &amp; Scholarship Awareness:</a:t>
            </a:r>
            <a:r>
              <a:rPr lang="en-US" sz="2500" dirty="0"/>
              <a:t> Updates on exams, courses and financial aid reduce uncertainty.</a:t>
            </a:r>
          </a:p>
          <a:p>
            <a:pPr>
              <a:buNone/>
            </a:pPr>
            <a:endParaRPr lang="en-US" sz="2500" dirty="0"/>
          </a:p>
          <a:p>
            <a:endParaRPr lang="en-US" sz="25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A0980F-0C68-BF03-8513-A93E46B32249}"/>
              </a:ext>
            </a:extLst>
          </p:cNvPr>
          <p:cNvSpPr/>
          <p:nvPr/>
        </p:nvSpPr>
        <p:spPr>
          <a:xfrm>
            <a:off x="476861" y="4841653"/>
            <a:ext cx="11238271" cy="162100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046DC-4766-53CC-B908-446D851DD641}"/>
              </a:ext>
            </a:extLst>
          </p:cNvPr>
          <p:cNvSpPr txBox="1"/>
          <p:nvPr/>
        </p:nvSpPr>
        <p:spPr>
          <a:xfrm>
            <a:off x="529940" y="4841652"/>
            <a:ext cx="6097554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Future Enhancements : </a:t>
            </a:r>
          </a:p>
          <a:p>
            <a:r>
              <a:rPr lang="en-US" sz="2500" b="1" dirty="0"/>
              <a:t>- Adaptive Learning System</a:t>
            </a:r>
          </a:p>
          <a:p>
            <a:r>
              <a:rPr lang="en-US" sz="2500" b="1" dirty="0"/>
              <a:t>- Advanced Offline Synchronization</a:t>
            </a:r>
          </a:p>
          <a:p>
            <a:r>
              <a:rPr lang="en-US" sz="2500" b="1" dirty="0"/>
              <a:t>- Live Mentorship &amp; Community Support</a:t>
            </a:r>
          </a:p>
          <a:p>
            <a:pPr>
              <a:buNone/>
            </a:pPr>
            <a:endParaRPr lang="en-US" sz="2500" dirty="0"/>
          </a:p>
          <a:p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405167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4ACE7A6-166B-77BA-90C6-8FEBBF618D8E}"/>
              </a:ext>
            </a:extLst>
          </p:cNvPr>
          <p:cNvSpPr txBox="1"/>
          <p:nvPr/>
        </p:nvSpPr>
        <p:spPr>
          <a:xfrm>
            <a:off x="550601" y="640686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>
                    <a:lumMod val="75000"/>
                  </a:schemeClr>
                </a:solidFill>
              </a:rPr>
              <a:t>Implementation &amp; Sustainability Analysis 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6B2E18-DED5-6DA7-B9BB-C356B10F834B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1700D5-B497-02D8-C109-5C593BD3B77E}"/>
              </a:ext>
            </a:extLst>
          </p:cNvPr>
          <p:cNvSpPr txBox="1"/>
          <p:nvPr/>
        </p:nvSpPr>
        <p:spPr>
          <a:xfrm>
            <a:off x="550601" y="1370741"/>
            <a:ext cx="11164532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/>
              <a:t>Technology Readiness</a:t>
            </a:r>
          </a:p>
          <a:p>
            <a:r>
              <a:rPr lang="en-US" sz="2500" dirty="0"/>
              <a:t>AI-powered learning recommendations based on student performance, smart doubt-resolution assistant, lightweight web + mobile platform and dashboards for tracking progress, scores, and improvement trends.</a:t>
            </a:r>
          </a:p>
          <a:p>
            <a:r>
              <a:rPr lang="en-US" sz="2500" b="1" dirty="0"/>
              <a:t>Ground-Level Usability</a:t>
            </a:r>
          </a:p>
          <a:p>
            <a:r>
              <a:rPr lang="en-US" sz="2500" dirty="0"/>
              <a:t>Simple and clean interface for Class 10th and 12th students, multilingual support, mobile-friendly design and step-by-step guided learning so even average students can use it easily without technical knowledge.</a:t>
            </a:r>
          </a:p>
          <a:p>
            <a:r>
              <a:rPr lang="en-US" sz="2500" b="1" dirty="0"/>
              <a:t>Economic Sustainability</a:t>
            </a:r>
          </a:p>
          <a:p>
            <a:r>
              <a:rPr lang="en-US" sz="2500" dirty="0"/>
              <a:t>Built using open-source tools to reduce development cost, scalable cloud deployment and a low-maintenance model that can be adopted by schools at minimal expense.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5BAA51-D181-7918-C641-72825DD5164F}"/>
              </a:ext>
            </a:extLst>
          </p:cNvPr>
          <p:cNvSpPr/>
          <p:nvPr/>
        </p:nvSpPr>
        <p:spPr>
          <a:xfrm>
            <a:off x="476862" y="508819"/>
            <a:ext cx="11238271" cy="68947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794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78A660-3AB4-F716-DC94-5A94F2A38D64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BECF08-463C-130D-81BF-E2C5F77334A0}"/>
              </a:ext>
            </a:extLst>
          </p:cNvPr>
          <p:cNvSpPr/>
          <p:nvPr/>
        </p:nvSpPr>
        <p:spPr>
          <a:xfrm>
            <a:off x="484937" y="508819"/>
            <a:ext cx="11238271" cy="49987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062EC-4F65-FE0A-3F92-F4B5E4F5AC29}"/>
              </a:ext>
            </a:extLst>
          </p:cNvPr>
          <p:cNvSpPr txBox="1"/>
          <p:nvPr/>
        </p:nvSpPr>
        <p:spPr>
          <a:xfrm>
            <a:off x="484936" y="512630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Snapshots of the project :</a:t>
            </a: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53BD6D6E-E4FE-ED13-9DE0-CA4A1FA294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721077" cy="2721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23C4E250-2A72-39AD-69C7-22F0296A06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3839496" y="3964857"/>
            <a:ext cx="2268794" cy="226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DF1B46-C545-C5AE-7DF1-F7A771BCC463}"/>
              </a:ext>
            </a:extLst>
          </p:cNvPr>
          <p:cNvSpPr txBox="1"/>
          <p:nvPr/>
        </p:nvSpPr>
        <p:spPr>
          <a:xfrm>
            <a:off x="3532936" y="1082158"/>
            <a:ext cx="8015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Website View </a:t>
            </a:r>
            <a:endParaRPr lang="en-US" sz="1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11E7DF-C808-E0CA-89BF-29BD3AD3A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68" y="1451490"/>
            <a:ext cx="7714857" cy="46540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2AB364-C8F6-D3E1-F4B7-E85289CC6D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16" b="12545"/>
          <a:stretch>
            <a:fillRect/>
          </a:stretch>
        </p:blipFill>
        <p:spPr>
          <a:xfrm>
            <a:off x="8664676" y="1524953"/>
            <a:ext cx="2758269" cy="46905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3AB815-7753-76A7-1F24-837BDDE6A833}"/>
              </a:ext>
            </a:extLst>
          </p:cNvPr>
          <p:cNvSpPr txBox="1"/>
          <p:nvPr/>
        </p:nvSpPr>
        <p:spPr>
          <a:xfrm>
            <a:off x="9057436" y="1082158"/>
            <a:ext cx="8015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Mobile App View </a:t>
            </a:r>
            <a:endParaRPr lang="en-US" sz="18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E33C2A-9196-F40F-1B0C-36CE882A688D}"/>
              </a:ext>
            </a:extLst>
          </p:cNvPr>
          <p:cNvSpPr/>
          <p:nvPr/>
        </p:nvSpPr>
        <p:spPr>
          <a:xfrm>
            <a:off x="8362730" y="1008695"/>
            <a:ext cx="3344334" cy="533667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189940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C514C-2888-8EA6-6E58-3B219EFF4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889D85-4503-B2EC-E4E0-0772E33153D6}"/>
              </a:ext>
            </a:extLst>
          </p:cNvPr>
          <p:cNvSpPr/>
          <p:nvPr/>
        </p:nvSpPr>
        <p:spPr>
          <a:xfrm>
            <a:off x="476864" y="508819"/>
            <a:ext cx="11238271" cy="584036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5B938F-B6BB-C9FA-A216-09D368CC9890}"/>
              </a:ext>
            </a:extLst>
          </p:cNvPr>
          <p:cNvSpPr/>
          <p:nvPr/>
        </p:nvSpPr>
        <p:spPr>
          <a:xfrm>
            <a:off x="484937" y="508819"/>
            <a:ext cx="11238271" cy="49987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161E65-1AC1-0516-D13D-1DCAF15FB3CF}"/>
              </a:ext>
            </a:extLst>
          </p:cNvPr>
          <p:cNvSpPr txBox="1"/>
          <p:nvPr/>
        </p:nvSpPr>
        <p:spPr>
          <a:xfrm>
            <a:off x="484936" y="512630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500" b="1" dirty="0">
                <a:solidFill>
                  <a:schemeClr val="accent1">
                    <a:lumMod val="75000"/>
                  </a:schemeClr>
                </a:solidFill>
              </a:rPr>
              <a:t>Snapshots of the project :</a:t>
            </a: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23C86AE9-1C8C-6D08-D415-B2F8D3BC95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721077" cy="2721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C57FF668-EE15-A64D-2CCD-BBC6035E52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3839496" y="3964857"/>
            <a:ext cx="2268794" cy="226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5CF53-FBB9-8E5A-DE4B-EDB69245A49F}"/>
              </a:ext>
            </a:extLst>
          </p:cNvPr>
          <p:cNvSpPr txBox="1"/>
          <p:nvPr/>
        </p:nvSpPr>
        <p:spPr>
          <a:xfrm>
            <a:off x="4771186" y="1008695"/>
            <a:ext cx="8015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Q&amp;A AI Assistant View </a:t>
            </a:r>
            <a:endParaRPr lang="en-US" sz="18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4557AF-8304-76EB-4AFE-0691212E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51" b="4722"/>
          <a:stretch>
            <a:fillRect/>
          </a:stretch>
        </p:blipFill>
        <p:spPr>
          <a:xfrm>
            <a:off x="1033462" y="1378027"/>
            <a:ext cx="10125075" cy="492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715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559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Trishansh Sahane</dc:creator>
  <cp:lastModifiedBy>Trishansh Sahane</cp:lastModifiedBy>
  <cp:revision>20</cp:revision>
  <dcterms:created xsi:type="dcterms:W3CDTF">2026-01-31T16:20:46Z</dcterms:created>
  <dcterms:modified xsi:type="dcterms:W3CDTF">2026-02-27T06:38:38Z</dcterms:modified>
</cp:coreProperties>
</file>