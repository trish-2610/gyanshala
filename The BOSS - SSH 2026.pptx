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3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4EA10-311E-0EDF-FAB6-1B0300646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458A17-3E78-A40A-20CC-E00619622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6B6DA-CFFC-E478-F204-131139A84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67BF-00B6-43F9-B427-F89AFA2CD762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475D1-8829-737D-DC2C-FCC83A880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0C56F-5980-E0B4-DAC2-38D22AD10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D7967-D09E-4C1B-B2F3-33978A279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478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8DCAB-16DA-9BC0-9DB0-E485AA93E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7A135-22CF-D5A1-10CF-73963038B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BA9A5-BAB3-AE3D-854E-C26F22A59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67BF-00B6-43F9-B427-F89AFA2CD762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FF736-120E-D66A-529B-1F2E30C8C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F807B-ADA4-4C01-083D-A4C9C666F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D7967-D09E-4C1B-B2F3-33978A279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942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E0988-1C4E-7D71-2353-D83AF5AA1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54932C-95C0-2589-4FA1-6A4379CAE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DF939-1343-4FB3-3B5B-B92B8DFB1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67BF-00B6-43F9-B427-F89AFA2CD762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19822-B0A9-74DB-BB07-26CFC1E18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11844-BC7F-ECDB-EB78-1E275748E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D7967-D09E-4C1B-B2F3-33978A279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647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A5D9E-A0C0-03A9-53C8-DEFC9DFDF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09F55-3A2B-F843-1AFD-BB9453209C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30FABC-698C-CD63-41D4-91031BAA4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5D8B5-232F-CEDA-4C53-5A8329089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67BF-00B6-43F9-B427-F89AFA2CD762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AF9CE-3966-C23F-2866-7AB8D414D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246613-B207-7A9D-2829-157F55879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D7967-D09E-4C1B-B2F3-33978A279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999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589FA-8525-7C97-3502-708C67C46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34E95-AC65-1447-D6FA-427FA8660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E92377-B2A7-5DC8-932A-733BECB614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BD5397-D77C-D2DC-8E1A-5E50A65BAC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D2D6E6-4A77-8F11-1499-2FC2081A7D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304FA4-104E-A33C-3BDD-DE9076011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67BF-00B6-43F9-B427-F89AFA2CD762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DE0898-71C7-A9D1-02A3-3E902570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64C665-3E48-B47C-E65F-F7D82BA05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D7967-D09E-4C1B-B2F3-33978A279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838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32E33-A3B6-5FFE-393D-ECF8CFF15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5EA9AB-3ED0-0507-24F9-AC09C2AC4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67BF-00B6-43F9-B427-F89AFA2CD762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302603-8261-46FA-8506-3C391DCBA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2A8009-D270-51C3-78DA-AB71C2AA5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D7967-D09E-4C1B-B2F3-33978A279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630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A511A2-7A25-8299-4204-195413304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67BF-00B6-43F9-B427-F89AFA2CD762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DAEE93-A882-2777-C6BD-FF81E6FCA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6C338-3DA8-B7E9-36F3-12D590B44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D7967-D09E-4C1B-B2F3-33978A279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471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DDB90-A278-5F56-D45D-B9020FAB2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442D0-3D24-31C4-063D-9EE702F9E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BE3722-4498-29FD-708E-8A8D469C1E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2262C-1F4C-2BFD-C9A0-850948C8C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67BF-00B6-43F9-B427-F89AFA2CD762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712155-EC0E-86A3-338F-7C010C1B8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220743-205D-A694-8552-EC46BACF6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D7967-D09E-4C1B-B2F3-33978A279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403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5057E-5FB0-E93A-A56E-0A97CC652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5D07F9-0F70-AC5E-EC02-EE2602674F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1A6701-94CA-EC3D-B83C-A66FF0FA0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6CBCCD-3D2E-B893-7645-1856F950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67BF-00B6-43F9-B427-F89AFA2CD762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C26292-B791-C11D-ED13-5DC8C050C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0F841-55CB-CAB6-3D7B-C0729675E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D7967-D09E-4C1B-B2F3-33978A279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643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BCF56-512C-07B6-FD74-49225F2EF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581952-773D-F9A9-A74D-7EF39C114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B304D-A226-B8F9-590B-040DE493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67BF-00B6-43F9-B427-F89AFA2CD762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7D605-D5C2-BF86-1338-77C422A50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4F877-5166-E5E6-B38F-D7B9CBEFC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D7967-D09E-4C1B-B2F3-33978A279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151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BE15D9-9D82-CFD3-CEB1-9DE8BD1F18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83B97-E743-1D12-3E13-147991CEEF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85CA2-726E-DD69-DB81-3DE5241B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67BF-00B6-43F9-B427-F89AFA2CD762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E24BA-9DDF-1F0F-C073-7A0974E97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6D694-A2D2-A182-309B-42B0FA2BF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D7967-D09E-4C1B-B2F3-33978A279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852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E72608-D0FB-D504-5008-E947212EA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E3D41-3D30-7CB3-F0F3-CB23AC03B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7D9A4-A63A-CEA9-88C6-5689D6C27F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867BF-00B6-43F9-B427-F89AFA2CD762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61C5A-73AC-DC90-14E0-0E59DDE766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7A7FA-3598-388A-4409-B92B9609A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D7967-D09E-4C1B-B2F3-33978A279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862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DA947F4-856D-418E-D194-17E9F3B4F8F4}"/>
              </a:ext>
            </a:extLst>
          </p:cNvPr>
          <p:cNvSpPr txBox="1">
            <a:spLocks/>
          </p:cNvSpPr>
          <p:nvPr/>
        </p:nvSpPr>
        <p:spPr>
          <a:xfrm>
            <a:off x="1524000" y="1161692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04D76B-793F-EE5F-97DE-AF9D59CDDBF4}"/>
              </a:ext>
            </a:extLst>
          </p:cNvPr>
          <p:cNvSpPr txBox="1"/>
          <p:nvPr/>
        </p:nvSpPr>
        <p:spPr>
          <a:xfrm>
            <a:off x="2349909" y="682073"/>
            <a:ext cx="7531510" cy="479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buNone/>
            </a:pPr>
            <a:r>
              <a:rPr lang="en-IN" sz="3200" b="1" i="0" dirty="0">
                <a:effectLst/>
                <a:latin typeface="Inter"/>
              </a:rPr>
              <a:t>Symbiosis Skill Hackathon (SSH-2026)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F8DBE6-A40A-D827-9F57-65AB2B2D62AB}"/>
              </a:ext>
            </a:extLst>
          </p:cNvPr>
          <p:cNvSpPr/>
          <p:nvPr/>
        </p:nvSpPr>
        <p:spPr>
          <a:xfrm>
            <a:off x="476864" y="508819"/>
            <a:ext cx="11238271" cy="5840361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49B7192-695A-0560-0ABF-EDFB8ABFF3CF}"/>
              </a:ext>
            </a:extLst>
          </p:cNvPr>
          <p:cNvCxnSpPr>
            <a:cxnSpLocks/>
          </p:cNvCxnSpPr>
          <p:nvPr/>
        </p:nvCxnSpPr>
        <p:spPr>
          <a:xfrm>
            <a:off x="476862" y="1161691"/>
            <a:ext cx="11253019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B1442F9-BB53-B10D-E48B-130E0DBFC310}"/>
              </a:ext>
            </a:extLst>
          </p:cNvPr>
          <p:cNvSpPr txBox="1"/>
          <p:nvPr/>
        </p:nvSpPr>
        <p:spPr>
          <a:xfrm>
            <a:off x="462115" y="1247496"/>
            <a:ext cx="786580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solidFill>
                  <a:schemeClr val="accent1">
                    <a:lumMod val="75000"/>
                  </a:schemeClr>
                </a:solidFill>
              </a:rPr>
              <a:t>Team name </a:t>
            </a:r>
            <a:r>
              <a:rPr lang="en-US" sz="2500" b="1" dirty="0">
                <a:solidFill>
                  <a:schemeClr val="accent6">
                    <a:lumMod val="75000"/>
                  </a:schemeClr>
                </a:solidFill>
              </a:rPr>
              <a:t>: </a:t>
            </a:r>
            <a:r>
              <a:rPr lang="en-US" sz="2500" b="1" dirty="0"/>
              <a:t>The BOSS </a:t>
            </a:r>
          </a:p>
          <a:p>
            <a:r>
              <a:rPr lang="en-US" sz="2500" b="1" dirty="0">
                <a:solidFill>
                  <a:schemeClr val="accent1">
                    <a:lumMod val="75000"/>
                  </a:schemeClr>
                </a:solidFill>
              </a:rPr>
              <a:t>Team ID : </a:t>
            </a:r>
            <a:r>
              <a:rPr lang="en-US" sz="2500" b="1" dirty="0"/>
              <a:t>SSHE70</a:t>
            </a:r>
            <a:endParaRPr lang="en-US" sz="25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500" b="1" dirty="0">
                <a:solidFill>
                  <a:schemeClr val="accent1">
                    <a:lumMod val="75000"/>
                  </a:schemeClr>
                </a:solidFill>
              </a:rPr>
              <a:t>Team Leader name </a:t>
            </a:r>
            <a:r>
              <a:rPr lang="en-US" sz="2500" b="1" dirty="0">
                <a:solidFill>
                  <a:schemeClr val="accent6">
                    <a:lumMod val="75000"/>
                  </a:schemeClr>
                </a:solidFill>
              </a:rPr>
              <a:t>: </a:t>
            </a:r>
            <a:r>
              <a:rPr lang="en-US" sz="2500" b="1" dirty="0"/>
              <a:t>Trishansh Sahane</a:t>
            </a:r>
          </a:p>
          <a:p>
            <a:r>
              <a:rPr lang="en-US" sz="2500" b="1" dirty="0">
                <a:solidFill>
                  <a:schemeClr val="accent1">
                    <a:lumMod val="75000"/>
                  </a:schemeClr>
                </a:solidFill>
              </a:rPr>
              <a:t>College : </a:t>
            </a:r>
            <a:r>
              <a:rPr lang="en-US" sz="2500" b="1" dirty="0"/>
              <a:t>Devi Ahilya Vishwavidyalaya(DAVV) Indore</a:t>
            </a:r>
            <a:endParaRPr lang="en-IN" sz="25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F24FE3-4482-91C4-3CDC-97511356ACA1}"/>
              </a:ext>
            </a:extLst>
          </p:cNvPr>
          <p:cNvCxnSpPr/>
          <p:nvPr/>
        </p:nvCxnSpPr>
        <p:spPr>
          <a:xfrm>
            <a:off x="476863" y="2974284"/>
            <a:ext cx="11253019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5D23386-CE23-FA20-A4DD-BB4C15450890}"/>
              </a:ext>
            </a:extLst>
          </p:cNvPr>
          <p:cNvSpPr txBox="1"/>
          <p:nvPr/>
        </p:nvSpPr>
        <p:spPr>
          <a:xfrm>
            <a:off x="501444" y="5825152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solidFill>
                  <a:schemeClr val="accent1">
                    <a:lumMod val="75000"/>
                  </a:schemeClr>
                </a:solidFill>
              </a:rPr>
              <a:t>Theme : </a:t>
            </a:r>
            <a:r>
              <a:rPr lang="en-IN" sz="2500" b="1" dirty="0"/>
              <a:t>Edtech</a:t>
            </a:r>
            <a:r>
              <a:rPr lang="en-IN" sz="25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endParaRPr lang="en-IN" sz="2500" b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53205A5-F4C8-ED7B-DB6E-64B549CC917F}"/>
              </a:ext>
            </a:extLst>
          </p:cNvPr>
          <p:cNvCxnSpPr/>
          <p:nvPr/>
        </p:nvCxnSpPr>
        <p:spPr>
          <a:xfrm>
            <a:off x="476862" y="5720922"/>
            <a:ext cx="11253019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8E79E19-C20B-9651-EBEC-591F6800116E}"/>
              </a:ext>
            </a:extLst>
          </p:cNvPr>
          <p:cNvSpPr txBox="1"/>
          <p:nvPr/>
        </p:nvSpPr>
        <p:spPr>
          <a:xfrm>
            <a:off x="439992" y="3320265"/>
            <a:ext cx="1123827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5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500" b="1" dirty="0">
                <a:solidFill>
                  <a:schemeClr val="accent1">
                    <a:lumMod val="75000"/>
                  </a:schemeClr>
                </a:solidFill>
              </a:rPr>
              <a:t>Problem Statement : </a:t>
            </a:r>
            <a:r>
              <a:rPr lang="en-US" sz="2500" dirty="0"/>
              <a:t>Rural students often lack clear, accessible and personalized guidance after Class 10 and 12. Career information is scattered, complex and rarely available in regional languages or low-bandwidth formats. </a:t>
            </a:r>
          </a:p>
          <a:p>
            <a:r>
              <a:rPr lang="en-US" sz="2500" dirty="0"/>
              <a:t>This leads to poor career decisions, missed scholarships and limited awareness of government opportunities.</a:t>
            </a:r>
            <a:endParaRPr lang="en-IN" sz="2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0C1B90-B3F0-2E88-46E1-499142844ADD}"/>
              </a:ext>
            </a:extLst>
          </p:cNvPr>
          <p:cNvSpPr txBox="1"/>
          <p:nvPr/>
        </p:nvSpPr>
        <p:spPr>
          <a:xfrm>
            <a:off x="462115" y="3069857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>
                <a:solidFill>
                  <a:schemeClr val="accent1">
                    <a:lumMod val="75000"/>
                  </a:schemeClr>
                </a:solidFill>
              </a:rPr>
              <a:t>Project Name : </a:t>
            </a:r>
            <a:r>
              <a:rPr lang="en-IN" sz="2500" b="1"/>
              <a:t>Gyan-Shala</a:t>
            </a:r>
            <a:r>
              <a:rPr lang="en-IN" sz="2500" b="1">
                <a:solidFill>
                  <a:schemeClr val="accent6">
                    <a:lumMod val="75000"/>
                  </a:schemeClr>
                </a:solidFill>
              </a:rPr>
              <a:t> </a:t>
            </a:r>
            <a:endParaRPr lang="en-IN" sz="25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DF102B-7A58-2F2B-07AF-90415E76F350}"/>
              </a:ext>
            </a:extLst>
          </p:cNvPr>
          <p:cNvCxnSpPr/>
          <p:nvPr/>
        </p:nvCxnSpPr>
        <p:spPr>
          <a:xfrm>
            <a:off x="454740" y="3684985"/>
            <a:ext cx="11253019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A1DB39F-1ED7-0B94-CAA0-8EED25521B0E}"/>
              </a:ext>
            </a:extLst>
          </p:cNvPr>
          <p:cNvSpPr txBox="1"/>
          <p:nvPr/>
        </p:nvSpPr>
        <p:spPr>
          <a:xfrm>
            <a:off x="4456973" y="3081737"/>
            <a:ext cx="778172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chemeClr val="accent1">
                    <a:lumMod val="75000"/>
                  </a:schemeClr>
                </a:solidFill>
              </a:rPr>
              <a:t>Prototype Link : </a:t>
            </a:r>
            <a:r>
              <a:rPr lang="en-IN" sz="2500" b="1" dirty="0"/>
              <a:t>https://gyanshala-delta.vercel.app/</a:t>
            </a:r>
          </a:p>
        </p:txBody>
      </p:sp>
    </p:spTree>
    <p:extLst>
      <p:ext uri="{BB962C8B-B14F-4D97-AF65-F5344CB8AC3E}">
        <p14:creationId xmlns:p14="http://schemas.microsoft.com/office/powerpoint/2010/main" val="1508343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14637-BE89-AAB6-3F36-CD410E15D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7FFC6F8-060F-4B07-6632-AF82CB62B44B}"/>
              </a:ext>
            </a:extLst>
          </p:cNvPr>
          <p:cNvSpPr/>
          <p:nvPr/>
        </p:nvSpPr>
        <p:spPr>
          <a:xfrm>
            <a:off x="476864" y="508819"/>
            <a:ext cx="11238271" cy="5840361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A4B6B7-1D1B-0B3B-D3CD-D3F4BA516F59}"/>
              </a:ext>
            </a:extLst>
          </p:cNvPr>
          <p:cNvSpPr txBox="1"/>
          <p:nvPr/>
        </p:nvSpPr>
        <p:spPr>
          <a:xfrm>
            <a:off x="476864" y="508819"/>
            <a:ext cx="6199239" cy="586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solidFill>
                  <a:schemeClr val="accent1">
                    <a:lumMod val="75000"/>
                  </a:schemeClr>
                </a:solidFill>
              </a:rPr>
              <a:t>Proposed Solution:</a:t>
            </a:r>
            <a:br>
              <a:rPr lang="en-US" sz="2500" dirty="0"/>
            </a:br>
            <a:r>
              <a:rPr lang="en-US" sz="2500" dirty="0"/>
              <a:t>A one-stop multilingual digital learning platform </a:t>
            </a:r>
            <a:r>
              <a:rPr lang="en-US" sz="2500" b="1" dirty="0"/>
              <a:t>(web + mobile app) </a:t>
            </a:r>
            <a:r>
              <a:rPr lang="en-US" sz="2500" dirty="0"/>
              <a:t>designed specifically for </a:t>
            </a:r>
            <a:r>
              <a:rPr lang="en-US" sz="2500" b="1" dirty="0"/>
              <a:t>rural students</a:t>
            </a:r>
            <a:r>
              <a:rPr lang="en-US" sz="2500" dirty="0"/>
              <a:t>, delivering subject-wise study content, career guidance after 10th and 12th, scholarship awareness and government exam roadmaps - all in local and regional languages.</a:t>
            </a:r>
          </a:p>
          <a:p>
            <a:r>
              <a:rPr lang="en-US" sz="2500" dirty="0"/>
              <a:t>The platform supports </a:t>
            </a:r>
            <a:r>
              <a:rPr lang="en-US" sz="2500" b="1" dirty="0"/>
              <a:t>offline learning through downloadable content </a:t>
            </a:r>
            <a:r>
              <a:rPr lang="en-US" sz="2500" dirty="0"/>
              <a:t>and low-data mode, ensuring uninterrupted access even in </a:t>
            </a:r>
            <a:r>
              <a:rPr lang="en-US" sz="2500" b="1" dirty="0"/>
              <a:t>low-connectivity areas w</a:t>
            </a:r>
            <a:r>
              <a:rPr lang="en-US" sz="2500" dirty="0"/>
              <a:t>ith AI-powered academic support and voice-based assistance, it enables accessible, affordable and self-driven education for rural growth.</a:t>
            </a:r>
            <a:endParaRPr lang="en-IN" sz="2500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F3F5C6AD-0C6D-2B1E-F21B-C5151DEEB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7869" y="1297054"/>
            <a:ext cx="7644504" cy="5220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2683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83FB9-92E3-16EB-8C0D-97608460E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354824-1EDE-5E48-7BCB-07793C945FB7}"/>
              </a:ext>
            </a:extLst>
          </p:cNvPr>
          <p:cNvSpPr txBox="1"/>
          <p:nvPr/>
        </p:nvSpPr>
        <p:spPr>
          <a:xfrm>
            <a:off x="476863" y="508819"/>
            <a:ext cx="11336765" cy="4170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Solution Highlights (what make our solution different from others) :</a:t>
            </a:r>
          </a:p>
          <a:p>
            <a:r>
              <a:rPr lang="en-US" sz="2400" b="1" dirty="0"/>
              <a:t>Regional Language Focus : </a:t>
            </a:r>
            <a:r>
              <a:rPr lang="en-US" sz="2400" dirty="0"/>
              <a:t>Study content and career guidance available in Hindi and regional languages for true understanding.</a:t>
            </a:r>
          </a:p>
          <a:p>
            <a:r>
              <a:rPr lang="en-US" sz="2400" b="1" dirty="0"/>
              <a:t>Offline &amp; Low-Data Access : </a:t>
            </a:r>
            <a:r>
              <a:rPr lang="en-US" sz="2400" dirty="0"/>
              <a:t>Downloadable resources and a lightweight platform designed for rural internet conditions.</a:t>
            </a:r>
          </a:p>
          <a:p>
            <a:r>
              <a:rPr lang="en-US" sz="2400" b="1" dirty="0"/>
              <a:t>Structured Career Roadmaps : </a:t>
            </a:r>
            <a:r>
              <a:rPr lang="en-US" sz="2400" dirty="0"/>
              <a:t>Clear step-by-step guidance after 10th and 12th with degree options, government exams and scholarships in one place.</a:t>
            </a:r>
          </a:p>
          <a:p>
            <a:r>
              <a:rPr lang="en-US" sz="2400" b="1" dirty="0"/>
              <a:t>AI Learning Assistant : </a:t>
            </a:r>
            <a:r>
              <a:rPr lang="en-US" sz="2400" dirty="0"/>
              <a:t>Simple doubt-solving and concept explanations in easy language.</a:t>
            </a:r>
          </a:p>
          <a:p>
            <a:r>
              <a:rPr lang="en-US" sz="2400" b="1" dirty="0"/>
              <a:t>Practical &amp; Student-Friendly Content : </a:t>
            </a:r>
            <a:r>
              <a:rPr lang="en-US" sz="2400" dirty="0"/>
              <a:t>Subject-wise notes and career insights explained clearly and directly.</a:t>
            </a:r>
          </a:p>
          <a:p>
            <a:endParaRPr lang="en-US" sz="25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DE4DEE-DE84-2871-5590-6931A1236841}"/>
              </a:ext>
            </a:extLst>
          </p:cNvPr>
          <p:cNvSpPr/>
          <p:nvPr/>
        </p:nvSpPr>
        <p:spPr>
          <a:xfrm>
            <a:off x="476864" y="508819"/>
            <a:ext cx="11238271" cy="5840361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667C3F0-3305-0101-5EE6-500B822A0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104" y="3560377"/>
            <a:ext cx="6116593" cy="3005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440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B01E2-E5B9-D53B-E532-9FAC063BD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7C5E4F4-5AA4-C27A-FFA9-4B474D181414}"/>
              </a:ext>
            </a:extLst>
          </p:cNvPr>
          <p:cNvSpPr/>
          <p:nvPr/>
        </p:nvSpPr>
        <p:spPr>
          <a:xfrm>
            <a:off x="476864" y="508819"/>
            <a:ext cx="11238271" cy="5840361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D5BEE4-65D2-526E-7E54-20BC2FA38F05}"/>
              </a:ext>
            </a:extLst>
          </p:cNvPr>
          <p:cNvSpPr txBox="1"/>
          <p:nvPr/>
        </p:nvSpPr>
        <p:spPr>
          <a:xfrm>
            <a:off x="611924" y="743959"/>
            <a:ext cx="4506613" cy="5093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solidFill>
                  <a:schemeClr val="accent1">
                    <a:lumMod val="75000"/>
                  </a:schemeClr>
                </a:solidFill>
              </a:rPr>
              <a:t>Technologies used :</a:t>
            </a:r>
          </a:p>
          <a:p>
            <a:r>
              <a:rPr lang="en-IN" sz="2500" dirty="0">
                <a:solidFill>
                  <a:schemeClr val="accent1">
                    <a:lumMod val="75000"/>
                  </a:schemeClr>
                </a:solidFill>
              </a:rPr>
              <a:t>Languages : </a:t>
            </a:r>
          </a:p>
          <a:p>
            <a:r>
              <a:rPr lang="en-IN" sz="2500" b="1" dirty="0"/>
              <a:t>HTML CSS and JavaScript </a:t>
            </a:r>
            <a:r>
              <a:rPr lang="en-IN" sz="2500" dirty="0"/>
              <a:t>(Frontend) </a:t>
            </a:r>
          </a:p>
          <a:p>
            <a:r>
              <a:rPr lang="en-IN" sz="2500" b="1" dirty="0"/>
              <a:t>Python </a:t>
            </a:r>
            <a:r>
              <a:rPr lang="en-IN" sz="2500" dirty="0"/>
              <a:t>(Chatbot)</a:t>
            </a:r>
          </a:p>
          <a:p>
            <a:r>
              <a:rPr lang="en-US" sz="2500" dirty="0">
                <a:solidFill>
                  <a:schemeClr val="accent1">
                    <a:lumMod val="75000"/>
                  </a:schemeClr>
                </a:solidFill>
              </a:rPr>
              <a:t>Tools and Frameworks :</a:t>
            </a:r>
          </a:p>
          <a:p>
            <a:r>
              <a:rPr lang="en-US" sz="2500" b="1" dirty="0"/>
              <a:t>Flask and </a:t>
            </a:r>
            <a:r>
              <a:rPr lang="en-US" sz="2500" b="1" dirty="0" err="1"/>
              <a:t>LangChain</a:t>
            </a:r>
            <a:r>
              <a:rPr lang="en-US" sz="2500" b="1" dirty="0"/>
              <a:t> </a:t>
            </a:r>
            <a:r>
              <a:rPr lang="en-US" sz="2500" dirty="0"/>
              <a:t>(RAG Chatbot)</a:t>
            </a:r>
          </a:p>
          <a:p>
            <a:r>
              <a:rPr lang="en-US" sz="2500" b="1" dirty="0"/>
              <a:t>MySQL </a:t>
            </a:r>
            <a:r>
              <a:rPr lang="en-US" sz="2500" dirty="0"/>
              <a:t>(Database)</a:t>
            </a:r>
          </a:p>
          <a:p>
            <a:r>
              <a:rPr lang="en-US" sz="2500" b="1" dirty="0"/>
              <a:t>React </a:t>
            </a:r>
            <a:r>
              <a:rPr lang="en-US" sz="2500" dirty="0"/>
              <a:t>(Website)</a:t>
            </a:r>
          </a:p>
          <a:p>
            <a:r>
              <a:rPr lang="en-US" sz="2500" b="1" dirty="0"/>
              <a:t>React Native </a:t>
            </a:r>
            <a:r>
              <a:rPr lang="en-US" sz="2500" dirty="0"/>
              <a:t>(Mobile app)</a:t>
            </a:r>
          </a:p>
          <a:p>
            <a:r>
              <a:rPr lang="en-US" sz="2500" b="1" dirty="0"/>
              <a:t>React i18n </a:t>
            </a:r>
            <a:r>
              <a:rPr lang="en-US" sz="2500" dirty="0"/>
              <a:t>(Translation)</a:t>
            </a:r>
          </a:p>
          <a:p>
            <a:r>
              <a:rPr lang="en-US" sz="2500" b="1" dirty="0"/>
              <a:t>Tailwind </a:t>
            </a:r>
            <a:r>
              <a:rPr lang="en-US" sz="2500" dirty="0"/>
              <a:t>(Styling)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EA517E-23E5-9BF1-6E40-59FD06E5D005}"/>
              </a:ext>
            </a:extLst>
          </p:cNvPr>
          <p:cNvSpPr/>
          <p:nvPr/>
        </p:nvSpPr>
        <p:spPr>
          <a:xfrm>
            <a:off x="476865" y="508819"/>
            <a:ext cx="11238270" cy="5840361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F556F2-C130-0E5F-7109-2B7680710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461" y="1766393"/>
            <a:ext cx="5475891" cy="36218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CBEF16-7329-372B-3A14-5CABD5042234}"/>
              </a:ext>
            </a:extLst>
          </p:cNvPr>
          <p:cNvSpPr txBox="1"/>
          <p:nvPr/>
        </p:nvSpPr>
        <p:spPr>
          <a:xfrm>
            <a:off x="6526925" y="1120766"/>
            <a:ext cx="75043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solidFill>
                  <a:schemeClr val="accent1">
                    <a:lumMod val="75000"/>
                  </a:schemeClr>
                </a:solidFill>
              </a:rPr>
              <a:t>Architecture Diagram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357F89-AD64-5DF8-D901-88C811C02942}"/>
              </a:ext>
            </a:extLst>
          </p:cNvPr>
          <p:cNvSpPr/>
          <p:nvPr/>
        </p:nvSpPr>
        <p:spPr>
          <a:xfrm>
            <a:off x="485803" y="508819"/>
            <a:ext cx="4506612" cy="5840361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797504-0FE0-2EC9-C00A-D25B565E2631}"/>
              </a:ext>
            </a:extLst>
          </p:cNvPr>
          <p:cNvSpPr txBox="1"/>
          <p:nvPr/>
        </p:nvSpPr>
        <p:spPr>
          <a:xfrm>
            <a:off x="5767552" y="4056257"/>
            <a:ext cx="67712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dirty="0"/>
              <a:t>Frontend</a:t>
            </a:r>
          </a:p>
        </p:txBody>
      </p:sp>
    </p:spTree>
    <p:extLst>
      <p:ext uri="{BB962C8B-B14F-4D97-AF65-F5344CB8AC3E}">
        <p14:creationId xmlns:p14="http://schemas.microsoft.com/office/powerpoint/2010/main" val="928797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923BE-0B2D-6FD5-B157-C14EA058F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92CCA74-C5CF-D4A5-E2E2-F7A2E26748FB}"/>
              </a:ext>
            </a:extLst>
          </p:cNvPr>
          <p:cNvSpPr/>
          <p:nvPr/>
        </p:nvSpPr>
        <p:spPr>
          <a:xfrm>
            <a:off x="476861" y="508821"/>
            <a:ext cx="11238271" cy="6168571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62DE7F-9A19-C159-430E-FFD3F94BDED8}"/>
              </a:ext>
            </a:extLst>
          </p:cNvPr>
          <p:cNvSpPr txBox="1"/>
          <p:nvPr/>
        </p:nvSpPr>
        <p:spPr>
          <a:xfrm>
            <a:off x="580104" y="679725"/>
            <a:ext cx="997974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solidFill>
                  <a:schemeClr val="accent1">
                    <a:lumMod val="75000"/>
                  </a:schemeClr>
                </a:solidFill>
              </a:rPr>
              <a:t>Target Audience : </a:t>
            </a:r>
            <a:r>
              <a:rPr lang="en-US" sz="2500" dirty="0"/>
              <a:t>Our target audience is </a:t>
            </a:r>
            <a:r>
              <a:rPr lang="en-US" sz="2500" b="1" dirty="0"/>
              <a:t>India’s rural school students.</a:t>
            </a:r>
            <a:endParaRPr lang="en-IN" sz="25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33E8A0-CA92-5F41-D2BA-537C12DECC28}"/>
              </a:ext>
            </a:extLst>
          </p:cNvPr>
          <p:cNvSpPr/>
          <p:nvPr/>
        </p:nvSpPr>
        <p:spPr>
          <a:xfrm>
            <a:off x="476863" y="508818"/>
            <a:ext cx="11238271" cy="81478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75C494-74B1-5A28-9EE4-12685FD1D192}"/>
              </a:ext>
            </a:extLst>
          </p:cNvPr>
          <p:cNvSpPr txBox="1"/>
          <p:nvPr/>
        </p:nvSpPr>
        <p:spPr>
          <a:xfrm>
            <a:off x="580104" y="1358482"/>
            <a:ext cx="11238271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500" b="1" dirty="0">
                <a:solidFill>
                  <a:schemeClr val="accent1">
                    <a:lumMod val="75000"/>
                  </a:schemeClr>
                </a:solidFill>
              </a:rPr>
              <a:t>Impact on ground level :</a:t>
            </a:r>
          </a:p>
          <a:p>
            <a:r>
              <a:rPr lang="en-US" sz="2500" b="1" dirty="0"/>
              <a:t>Builds Confidence:</a:t>
            </a:r>
            <a:r>
              <a:rPr lang="en-US" sz="2500" dirty="0"/>
              <a:t> Students gain clarity about subjects, careers and future opportunities.</a:t>
            </a:r>
          </a:p>
          <a:p>
            <a:r>
              <a:rPr lang="en-US" sz="2500" b="1" dirty="0"/>
              <a:t>Right Direction at Right Time:</a:t>
            </a:r>
            <a:r>
              <a:rPr lang="en-US" sz="2500" dirty="0"/>
              <a:t> Structured guidance after 10th/12th prevents wrong career choices.</a:t>
            </a:r>
          </a:p>
          <a:p>
            <a:r>
              <a:rPr lang="en-US" sz="2500" b="1" dirty="0"/>
              <a:t>Access for Every Student:</a:t>
            </a:r>
            <a:r>
              <a:rPr lang="en-US" sz="2500" dirty="0"/>
              <a:t> Rural learners get equal access to quality resources and mentorship.</a:t>
            </a:r>
          </a:p>
          <a:p>
            <a:r>
              <a:rPr lang="en-US" sz="2500" b="1" dirty="0"/>
              <a:t>Career &amp; Scholarship Awareness:</a:t>
            </a:r>
            <a:r>
              <a:rPr lang="en-US" sz="2500" dirty="0"/>
              <a:t> Updates on exams, courses, and financial aid reduce uncertainty.</a:t>
            </a:r>
          </a:p>
          <a:p>
            <a:pPr>
              <a:buNone/>
            </a:pPr>
            <a:endParaRPr lang="en-US" sz="2500" dirty="0"/>
          </a:p>
          <a:p>
            <a:endParaRPr lang="en-US" sz="25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CABB2D-E318-5A4F-136E-18D37A295F19}"/>
              </a:ext>
            </a:extLst>
          </p:cNvPr>
          <p:cNvSpPr/>
          <p:nvPr/>
        </p:nvSpPr>
        <p:spPr>
          <a:xfrm flipV="1">
            <a:off x="476862" y="6677392"/>
            <a:ext cx="11238271" cy="4571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671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4ACE7A6-166B-77BA-90C6-8FEBBF618D8E}"/>
              </a:ext>
            </a:extLst>
          </p:cNvPr>
          <p:cNvSpPr txBox="1"/>
          <p:nvPr/>
        </p:nvSpPr>
        <p:spPr>
          <a:xfrm>
            <a:off x="550601" y="640686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solidFill>
                  <a:schemeClr val="accent1">
                    <a:lumMod val="75000"/>
                  </a:schemeClr>
                </a:solidFill>
              </a:rPr>
              <a:t>Implementation &amp; Sustainability Analysis 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6B2E18-DED5-6DA7-B9BB-C356B10F834B}"/>
              </a:ext>
            </a:extLst>
          </p:cNvPr>
          <p:cNvSpPr/>
          <p:nvPr/>
        </p:nvSpPr>
        <p:spPr>
          <a:xfrm>
            <a:off x="476864" y="508819"/>
            <a:ext cx="11238271" cy="5840361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1700D5-B497-02D8-C109-5C593BD3B77E}"/>
              </a:ext>
            </a:extLst>
          </p:cNvPr>
          <p:cNvSpPr txBox="1"/>
          <p:nvPr/>
        </p:nvSpPr>
        <p:spPr>
          <a:xfrm>
            <a:off x="550601" y="1370741"/>
            <a:ext cx="1116453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/>
              <a:t>Technology Readiness</a:t>
            </a:r>
          </a:p>
          <a:p>
            <a:r>
              <a:rPr lang="en-US" sz="2500" dirty="0"/>
              <a:t>AI-powered learning recommendations based on student performance, smart doubt-resolution assistant, lightweight web + mobile platform, and dashboards for tracking progress, scores, and improvement trends.</a:t>
            </a:r>
          </a:p>
          <a:p>
            <a:r>
              <a:rPr lang="en-US" sz="2500" b="1" dirty="0"/>
              <a:t>Ground-Level Usability</a:t>
            </a:r>
          </a:p>
          <a:p>
            <a:r>
              <a:rPr lang="en-US" sz="2500" dirty="0"/>
              <a:t>Simple and clean interface for Class 10th and 12th students, multilingual support, mobile-friendly design, and step-by-step guided learning so even average students can use it easily without technical knowledge.</a:t>
            </a:r>
          </a:p>
          <a:p>
            <a:r>
              <a:rPr lang="en-US" sz="2500" b="1" dirty="0"/>
              <a:t>Economic Sustainability</a:t>
            </a:r>
          </a:p>
          <a:p>
            <a:r>
              <a:rPr lang="en-US" sz="2500" dirty="0"/>
              <a:t>Built using open-source tools to reduce development cost, scalable cloud deployment, and a low-maintenance model that can be adopted by schools at minimal expense.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5BAA51-D181-7918-C641-72825DD5164F}"/>
              </a:ext>
            </a:extLst>
          </p:cNvPr>
          <p:cNvSpPr/>
          <p:nvPr/>
        </p:nvSpPr>
        <p:spPr>
          <a:xfrm>
            <a:off x="476862" y="508819"/>
            <a:ext cx="11238271" cy="689478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94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978A660-3AB4-F716-DC94-5A94F2A38D64}"/>
              </a:ext>
            </a:extLst>
          </p:cNvPr>
          <p:cNvSpPr/>
          <p:nvPr/>
        </p:nvSpPr>
        <p:spPr>
          <a:xfrm>
            <a:off x="476864" y="508819"/>
            <a:ext cx="11238271" cy="5840361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BECF08-463C-130D-81BF-E2C5F77334A0}"/>
              </a:ext>
            </a:extLst>
          </p:cNvPr>
          <p:cNvSpPr/>
          <p:nvPr/>
        </p:nvSpPr>
        <p:spPr>
          <a:xfrm>
            <a:off x="484937" y="508819"/>
            <a:ext cx="11238271" cy="499876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1062EC-4F65-FE0A-3F92-F4B5E4F5AC29}"/>
              </a:ext>
            </a:extLst>
          </p:cNvPr>
          <p:cNvSpPr txBox="1"/>
          <p:nvPr/>
        </p:nvSpPr>
        <p:spPr>
          <a:xfrm>
            <a:off x="484936" y="512630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500" b="1" dirty="0">
                <a:solidFill>
                  <a:schemeClr val="accent1">
                    <a:lumMod val="75000"/>
                  </a:schemeClr>
                </a:solidFill>
              </a:rPr>
              <a:t>Snapshots of the project :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53BD6D6E-E4FE-ED13-9DE0-CA4A1FA294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721077" cy="2721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23C4E250-2A72-39AD-69C7-22F0296A06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3839496" y="3964857"/>
            <a:ext cx="2268794" cy="2268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58E0950-F304-43BF-5316-F6B38B5478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37" y="1336430"/>
            <a:ext cx="2414231" cy="497896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A089A76-8AA5-CE07-BA82-24C52753A0FE}"/>
              </a:ext>
            </a:extLst>
          </p:cNvPr>
          <p:cNvSpPr txBox="1"/>
          <p:nvPr/>
        </p:nvSpPr>
        <p:spPr>
          <a:xfrm>
            <a:off x="1101757" y="1003983"/>
            <a:ext cx="1716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App View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7D8B7B-0CF2-2C0E-100A-2D8BB223142B}"/>
              </a:ext>
            </a:extLst>
          </p:cNvPr>
          <p:cNvSpPr/>
          <p:nvPr/>
        </p:nvSpPr>
        <p:spPr>
          <a:xfrm>
            <a:off x="484938" y="1397985"/>
            <a:ext cx="2569762" cy="495119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032CD6B-5222-2DFC-306B-1EB97F39F6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700" y="1007284"/>
            <a:ext cx="8676581" cy="5341895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EE580C78-3295-4D9C-E971-66634357D25E}"/>
              </a:ext>
            </a:extLst>
          </p:cNvPr>
          <p:cNvSpPr/>
          <p:nvPr/>
        </p:nvSpPr>
        <p:spPr>
          <a:xfrm>
            <a:off x="3062775" y="1007284"/>
            <a:ext cx="8660434" cy="534189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D37156-70FE-CA2D-6762-CCBC1516A89A}"/>
              </a:ext>
            </a:extLst>
          </p:cNvPr>
          <p:cNvSpPr/>
          <p:nvPr/>
        </p:nvSpPr>
        <p:spPr>
          <a:xfrm>
            <a:off x="3062774" y="1397985"/>
            <a:ext cx="8652361" cy="495119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D333CB-1CAE-61E3-7F41-EB9CCDB938D5}"/>
              </a:ext>
            </a:extLst>
          </p:cNvPr>
          <p:cNvSpPr txBox="1"/>
          <p:nvPr/>
        </p:nvSpPr>
        <p:spPr>
          <a:xfrm>
            <a:off x="6447958" y="1014794"/>
            <a:ext cx="8013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Web View</a:t>
            </a:r>
          </a:p>
        </p:txBody>
      </p:sp>
    </p:spTree>
    <p:extLst>
      <p:ext uri="{BB962C8B-B14F-4D97-AF65-F5344CB8AC3E}">
        <p14:creationId xmlns:p14="http://schemas.microsoft.com/office/powerpoint/2010/main" val="2189940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529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Trishansh Sahane</dc:creator>
  <cp:lastModifiedBy>Trishansh Sahane</cp:lastModifiedBy>
  <cp:revision>11</cp:revision>
  <dcterms:created xsi:type="dcterms:W3CDTF">2026-01-31T16:20:46Z</dcterms:created>
  <dcterms:modified xsi:type="dcterms:W3CDTF">2026-02-27T00:38:05Z</dcterms:modified>
</cp:coreProperties>
</file>